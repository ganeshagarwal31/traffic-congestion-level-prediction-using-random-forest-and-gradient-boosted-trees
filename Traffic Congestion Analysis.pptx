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mius Sans High Bold" panose="020B0604020202020204" charset="0"/>
      <p:regular r:id="rId23"/>
    </p:embeddedFont>
    <p:embeddedFont>
      <p:font typeface="Circe" panose="020B0604020202020204" charset="0"/>
      <p:regular r:id="rId24"/>
    </p:embeddedFont>
    <p:embeddedFont>
      <p:font typeface="Circe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24616" y="-713966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400" y="3137346"/>
            <a:ext cx="8050914" cy="6390413"/>
          </a:xfrm>
          <a:custGeom>
            <a:avLst/>
            <a:gdLst/>
            <a:ahLst/>
            <a:cxnLst/>
            <a:rect l="l" t="t" r="r" b="b"/>
            <a:pathLst>
              <a:path w="8050914" h="6390413">
                <a:moveTo>
                  <a:pt x="0" y="0"/>
                </a:moveTo>
                <a:lnTo>
                  <a:pt x="8050915" y="0"/>
                </a:lnTo>
                <a:lnTo>
                  <a:pt x="8050915" y="6390414"/>
                </a:lnTo>
                <a:lnTo>
                  <a:pt x="0" y="6390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71600" y="754478"/>
            <a:ext cx="16630028" cy="206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8"/>
              </a:lnSpc>
            </a:pPr>
            <a:r>
              <a:rPr lang="en-US" sz="8747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TRAFFIC CONGESTION</a:t>
            </a:r>
          </a:p>
          <a:p>
            <a:pPr marL="0" lvl="0" indent="0" algn="ctr">
              <a:lnSpc>
                <a:spcPts val="7698"/>
              </a:lnSpc>
            </a:pPr>
            <a:r>
              <a:rPr lang="en-US" sz="8747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ANALYSIS &amp; PREDICTION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75567" y="5448300"/>
            <a:ext cx="5742829" cy="19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14"/>
              </a:lnSpc>
            </a:pPr>
            <a:endParaRPr lang="en-US" sz="1607" b="1" dirty="0">
              <a:solidFill>
                <a:srgbClr val="34322B"/>
              </a:solidFill>
              <a:latin typeface="Circe Bold"/>
              <a:ea typeface="Circe Bold"/>
              <a:cs typeface="Circe Bold"/>
              <a:sym typeface="Circe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CDD78-0762-6E62-E442-5C8A14FEAE32}"/>
              </a:ext>
            </a:extLst>
          </p:cNvPr>
          <p:cNvSpPr txBox="1"/>
          <p:nvPr/>
        </p:nvSpPr>
        <p:spPr>
          <a:xfrm>
            <a:off x="12849225" y="7612326"/>
            <a:ext cx="5457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Guide: DR. Y Lakshmi Prasanna</a:t>
            </a:r>
          </a:p>
          <a:p>
            <a:r>
              <a:rPr lang="en-US" sz="2000" dirty="0"/>
              <a:t>Team : 23</a:t>
            </a:r>
          </a:p>
          <a:p>
            <a:r>
              <a:rPr lang="en-US" sz="2000" dirty="0"/>
              <a:t>Ganesh Agarwal-2520090052</a:t>
            </a:r>
          </a:p>
          <a:p>
            <a:r>
              <a:rPr lang="en-US" sz="2000" dirty="0"/>
              <a:t>Vivek Vinnakota-2520090101</a:t>
            </a:r>
            <a:endParaRPr lang="en-IN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D81C7A-BCDD-6D39-080C-20B14D224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6593"/>
            <a:ext cx="2333625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2102" y="1349007"/>
            <a:ext cx="7405125" cy="7470491"/>
          </a:xfrm>
          <a:custGeom>
            <a:avLst/>
            <a:gdLst/>
            <a:ahLst/>
            <a:cxnLst/>
            <a:rect l="l" t="t" r="r" b="b"/>
            <a:pathLst>
              <a:path w="7405125" h="7470491">
                <a:moveTo>
                  <a:pt x="0" y="0"/>
                </a:moveTo>
                <a:lnTo>
                  <a:pt x="7405125" y="0"/>
                </a:lnTo>
                <a:lnTo>
                  <a:pt x="7405125" y="7470491"/>
                </a:lnTo>
                <a:lnTo>
                  <a:pt x="0" y="7470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6385" y="1738225"/>
            <a:ext cx="939291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580"/>
              </a:lnSpc>
            </a:pPr>
            <a:r>
              <a:rPr lang="en-US" sz="9750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85017" y="4466152"/>
            <a:ext cx="9874283" cy="420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Traffic congestion is a critical urban issue affecting travel time, road safety, and overall quality of life in cities worldwide.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Rising vehicle volumes lead to frequent traffic jams and delays on urban roads.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Analysis and prediction of congestion can significantly improve traffic management strategies.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A real-world vehicle traffic dataset containing measures such as Vehicle Count, Speed, Weather, and Time of Day is used for exploratory analysis and prediction.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Data-driven approaches can enable proactive and smarter traffic control.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61115" y="-1329281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16985" y="92583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88271" y="2379190"/>
            <a:ext cx="10702566" cy="7625579"/>
          </a:xfrm>
          <a:custGeom>
            <a:avLst/>
            <a:gdLst/>
            <a:ahLst/>
            <a:cxnLst/>
            <a:rect l="l" t="t" r="r" b="b"/>
            <a:pathLst>
              <a:path w="10702566" h="7625579">
                <a:moveTo>
                  <a:pt x="0" y="0"/>
                </a:moveTo>
                <a:lnTo>
                  <a:pt x="10702567" y="0"/>
                </a:lnTo>
                <a:lnTo>
                  <a:pt x="10702567" y="7625578"/>
                </a:lnTo>
                <a:lnTo>
                  <a:pt x="0" y="7625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6385" y="1582207"/>
            <a:ext cx="9392915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08005"/>
            <a:ext cx="7097089" cy="610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Traffic congestion is a growing urban challenge with wide-ranging consequences: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Increasing Vehicle Volume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Rising number of vehicles on roads causes frequent and severe traffic jams, overwhelming existing road infrastructure.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Lack of Predictive Insights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Conventional traffic management systems rely on reactive measures and lack data-driven predictive capabilities to anticipate congestion.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Delays, Pollution &amp; Accidents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Congestion leads to significant travel delays, increased fuel consumption and air pollution, and higher risk of road accidents — directly impacting commuters and city planners.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585304" y="8952751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90742" y="-1329281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85512" y="4833815"/>
            <a:ext cx="5137457" cy="4896050"/>
          </a:xfrm>
          <a:custGeom>
            <a:avLst/>
            <a:gdLst/>
            <a:ahLst/>
            <a:cxnLst/>
            <a:rect l="l" t="t" r="r" b="b"/>
            <a:pathLst>
              <a:path w="5137457" h="4896050">
                <a:moveTo>
                  <a:pt x="0" y="0"/>
                </a:moveTo>
                <a:lnTo>
                  <a:pt x="5137457" y="0"/>
                </a:lnTo>
                <a:lnTo>
                  <a:pt x="5137457" y="4896050"/>
                </a:lnTo>
                <a:lnTo>
                  <a:pt x="0" y="4896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68142" y="5766399"/>
            <a:ext cx="3989500" cy="3976672"/>
          </a:xfrm>
          <a:custGeom>
            <a:avLst/>
            <a:gdLst/>
            <a:ahLst/>
            <a:cxnLst/>
            <a:rect l="l" t="t" r="r" b="b"/>
            <a:pathLst>
              <a:path w="3989500" h="3976672">
                <a:moveTo>
                  <a:pt x="0" y="0"/>
                </a:moveTo>
                <a:lnTo>
                  <a:pt x="3989499" y="0"/>
                </a:lnTo>
                <a:lnTo>
                  <a:pt x="3989499" y="3976671"/>
                </a:lnTo>
                <a:lnTo>
                  <a:pt x="0" y="3976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21956" y="5905202"/>
            <a:ext cx="4384105" cy="3622367"/>
          </a:xfrm>
          <a:custGeom>
            <a:avLst/>
            <a:gdLst/>
            <a:ahLst/>
            <a:cxnLst/>
            <a:rect l="l" t="t" r="r" b="b"/>
            <a:pathLst>
              <a:path w="4384105" h="3622367">
                <a:moveTo>
                  <a:pt x="0" y="0"/>
                </a:moveTo>
                <a:lnTo>
                  <a:pt x="4384105" y="0"/>
                </a:lnTo>
                <a:lnTo>
                  <a:pt x="4384105" y="3622367"/>
                </a:lnTo>
                <a:lnTo>
                  <a:pt x="0" y="3622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00588" y="1725445"/>
            <a:ext cx="14286824" cy="130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3375" y="3426120"/>
            <a:ext cx="14401250" cy="162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19"/>
              </a:lnSpc>
            </a:pPr>
            <a:r>
              <a:rPr lang="en-US" sz="24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This project is driven by the growing need to address urban traffic congestion through data-driven approaches. Rising vehicle volumes in cities demand smarter, more proactive traffic management solutions.</a:t>
            </a:r>
          </a:p>
          <a:p>
            <a:pPr marL="0" lvl="0" indent="0" algn="just">
              <a:lnSpc>
                <a:spcPts val="2619"/>
              </a:lnSpc>
            </a:pPr>
            <a:r>
              <a:rPr lang="en-US" sz="24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Real-world relevance due to rapidly rising urban traffic problems affecting daily commuters.</a:t>
            </a:r>
          </a:p>
          <a:p>
            <a:pPr marL="0" lvl="0" indent="0" algn="just">
              <a:lnSpc>
                <a:spcPts val="2619"/>
              </a:lnSpc>
            </a:pPr>
            <a:r>
              <a:rPr lang="en-US" sz="24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Need for data-driven congestion prediction models to replace reactive systems.</a:t>
            </a:r>
          </a:p>
          <a:p>
            <a:pPr marL="0" lvl="0" indent="0" algn="just">
              <a:lnSpc>
                <a:spcPts val="2619"/>
              </a:lnSpc>
            </a:pPr>
            <a:r>
              <a:rPr lang="en-US" sz="24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Supports city planning and traffic control improvements for safer, efficient roads.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59300" y="123152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28943" y="669193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96853" y="4635542"/>
            <a:ext cx="5717883" cy="4853552"/>
          </a:xfrm>
          <a:custGeom>
            <a:avLst/>
            <a:gdLst/>
            <a:ahLst/>
            <a:cxnLst/>
            <a:rect l="l" t="t" r="r" b="b"/>
            <a:pathLst>
              <a:path w="5717883" h="4853552">
                <a:moveTo>
                  <a:pt x="0" y="0"/>
                </a:moveTo>
                <a:lnTo>
                  <a:pt x="5717883" y="0"/>
                </a:lnTo>
                <a:lnTo>
                  <a:pt x="5717883" y="4853552"/>
                </a:lnTo>
                <a:lnTo>
                  <a:pt x="0" y="4853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6385" y="1757275"/>
            <a:ext cx="9392915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PROJECT</a:t>
            </a:r>
          </a:p>
          <a:p>
            <a:pPr marL="0" lvl="0" indent="0" algn="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731226" y="-885912"/>
            <a:ext cx="9673368" cy="12371711"/>
            <a:chOff x="0" y="0"/>
            <a:chExt cx="2547718" cy="3258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7719" cy="3258393"/>
            </a:xfrm>
            <a:custGeom>
              <a:avLst/>
              <a:gdLst/>
              <a:ahLst/>
              <a:cxnLst/>
              <a:rect l="l" t="t" r="r" b="b"/>
              <a:pathLst>
                <a:path w="2547719" h="3258393">
                  <a:moveTo>
                    <a:pt x="0" y="0"/>
                  </a:moveTo>
                  <a:lnTo>
                    <a:pt x="2547719" y="0"/>
                  </a:lnTo>
                  <a:lnTo>
                    <a:pt x="2547719" y="3258393"/>
                  </a:lnTo>
                  <a:lnTo>
                    <a:pt x="0" y="3258393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2547718" cy="3182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14167"/>
            <a:ext cx="7367650" cy="115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6"/>
              </a:lnSpc>
            </a:pPr>
            <a:r>
              <a:rPr lang="en-US" sz="2845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Analyze and predict traffic congestion levels using the vehicle traffic dataset to identify patterns and contributing factors.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03708"/>
            <a:ext cx="7367650" cy="115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6"/>
              </a:lnSpc>
            </a:pPr>
            <a:r>
              <a:rPr lang="en-US" sz="2845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Explore relationships between traffic factors (vehicle count, speed, density, weather) and congestion levels through statistical analysis.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393248"/>
            <a:ext cx="7367650" cy="115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6"/>
              </a:lnSpc>
            </a:pPr>
            <a:r>
              <a:rPr lang="en-US" sz="2845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Develop a basic predictive model framework and evaluate traffic patterns to support proactive traffic management decisions.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59300" y="6900319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07761" y="4054792"/>
            <a:ext cx="4721864" cy="7377912"/>
          </a:xfrm>
          <a:custGeom>
            <a:avLst/>
            <a:gdLst/>
            <a:ahLst/>
            <a:cxnLst/>
            <a:rect l="l" t="t" r="r" b="b"/>
            <a:pathLst>
              <a:path w="4721864" h="7377912">
                <a:moveTo>
                  <a:pt x="0" y="0"/>
                </a:moveTo>
                <a:lnTo>
                  <a:pt x="4721864" y="0"/>
                </a:lnTo>
                <a:lnTo>
                  <a:pt x="4721864" y="7377912"/>
                </a:lnTo>
                <a:lnTo>
                  <a:pt x="0" y="7377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65647" y="-82352"/>
            <a:ext cx="3182562" cy="5975238"/>
          </a:xfrm>
          <a:custGeom>
            <a:avLst/>
            <a:gdLst/>
            <a:ahLst/>
            <a:cxnLst/>
            <a:rect l="l" t="t" r="r" b="b"/>
            <a:pathLst>
              <a:path w="3182562" h="5975238">
                <a:moveTo>
                  <a:pt x="0" y="0"/>
                </a:moveTo>
                <a:lnTo>
                  <a:pt x="3182563" y="0"/>
                </a:lnTo>
                <a:lnTo>
                  <a:pt x="3182563" y="5975238"/>
                </a:lnTo>
                <a:lnTo>
                  <a:pt x="0" y="597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765232"/>
            <a:ext cx="12536157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9999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EXISTING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44836"/>
            <a:ext cx="6380014" cy="377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Current Approaches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Manual monitoring by traffic officers at key junctions.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Simple loop sensors and cameras for basic vehicle counting.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Fixed-time traffic signals with no adaptive control.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Limited real-time data sharing between intersections.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Reactive management — action taken only after congestion forms.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7929" y="4644836"/>
            <a:ext cx="6380014" cy="377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Limitations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Minimal use of data analytics or machine learning for prediction.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Data sparsity due to incomplete or inconsistent sensor records.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Delayed responses result in prolonged congestion periods.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Lack of integration across city-wide traffic systems.</a:t>
            </a:r>
          </a:p>
          <a:p>
            <a:pPr marL="0" lvl="0" indent="0" algn="just">
              <a:lnSpc>
                <a:spcPts val="2714"/>
              </a:lnSpc>
            </a:pPr>
            <a:r>
              <a:rPr lang="en-US" sz="256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No proactive or predictive congestion management capability.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89577" y="-1023733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4621" y="9258300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47336" y="4397999"/>
            <a:ext cx="19182672" cy="6419446"/>
            <a:chOff x="0" y="0"/>
            <a:chExt cx="5052226" cy="16907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60786" y="1268548"/>
            <a:ext cx="3473658" cy="3342117"/>
          </a:xfrm>
          <a:custGeom>
            <a:avLst/>
            <a:gdLst/>
            <a:ahLst/>
            <a:cxnLst/>
            <a:rect l="l" t="t" r="r" b="b"/>
            <a:pathLst>
              <a:path w="3473658" h="3342117">
                <a:moveTo>
                  <a:pt x="0" y="0"/>
                </a:moveTo>
                <a:lnTo>
                  <a:pt x="3473658" y="0"/>
                </a:lnTo>
                <a:lnTo>
                  <a:pt x="3473658" y="3342117"/>
                </a:lnTo>
                <a:lnTo>
                  <a:pt x="0" y="3342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130062" y="1128388"/>
            <a:ext cx="3017723" cy="4236016"/>
          </a:xfrm>
          <a:custGeom>
            <a:avLst/>
            <a:gdLst/>
            <a:ahLst/>
            <a:cxnLst/>
            <a:rect l="l" t="t" r="r" b="b"/>
            <a:pathLst>
              <a:path w="3017723" h="4236016">
                <a:moveTo>
                  <a:pt x="0" y="0"/>
                </a:moveTo>
                <a:lnTo>
                  <a:pt x="3017723" y="0"/>
                </a:lnTo>
                <a:lnTo>
                  <a:pt x="3017723" y="4236015"/>
                </a:lnTo>
                <a:lnTo>
                  <a:pt x="0" y="4236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39318" y="1526505"/>
            <a:ext cx="10809365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PROPOSED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054394"/>
            <a:ext cx="4725732" cy="30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 Utilization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Utilize the vehicle traffic dataset (Vehicle_Count, Speed, Density, Weather, etc.) for in-depth analysis and congestion level prediction using structured data-driven methods.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1134" y="5054394"/>
            <a:ext cx="4725732" cy="344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Congestion Factor Identification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Employ statistical and machine learning techniques to identify key factors contributing to traffic congestion and uncover patterns across road types and time periods.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33568" y="5054394"/>
            <a:ext cx="4725732" cy="344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Proactive Management &amp; Alerts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Aim to enable early congestion prediction to support proactive traffic management, timely alerts, and better decision-making for city planners and commuters.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159900" y="4365597"/>
            <a:ext cx="6256987" cy="3860969"/>
            <a:chOff x="0" y="0"/>
            <a:chExt cx="969371" cy="598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9371" cy="598165"/>
            </a:xfrm>
            <a:custGeom>
              <a:avLst/>
              <a:gdLst/>
              <a:ahLst/>
              <a:cxnLst/>
              <a:rect l="l" t="t" r="r" b="b"/>
              <a:pathLst>
                <a:path w="969371" h="598165">
                  <a:moveTo>
                    <a:pt x="0" y="0"/>
                  </a:moveTo>
                  <a:lnTo>
                    <a:pt x="969371" y="0"/>
                  </a:lnTo>
                  <a:lnTo>
                    <a:pt x="969371" y="598165"/>
                  </a:lnTo>
                  <a:lnTo>
                    <a:pt x="0" y="598165"/>
                  </a:lnTo>
                  <a:close/>
                </a:path>
              </a:pathLst>
            </a:custGeom>
            <a:blipFill>
              <a:blip r:embed="rId3"/>
              <a:stretch>
                <a:fillRect t="-339" b="-33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1796290" y="722769"/>
            <a:ext cx="5012345" cy="2932222"/>
          </a:xfrm>
          <a:custGeom>
            <a:avLst/>
            <a:gdLst/>
            <a:ahLst/>
            <a:cxnLst/>
            <a:rect l="l" t="t" r="r" b="b"/>
            <a:pathLst>
              <a:path w="5012345" h="2932222">
                <a:moveTo>
                  <a:pt x="0" y="0"/>
                </a:moveTo>
                <a:lnTo>
                  <a:pt x="5012345" y="0"/>
                </a:lnTo>
                <a:lnTo>
                  <a:pt x="5012345" y="2932222"/>
                </a:lnTo>
                <a:lnTo>
                  <a:pt x="0" y="2932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727132"/>
            <a:ext cx="12536157" cy="2072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0"/>
              </a:lnSpc>
            </a:pPr>
            <a:r>
              <a:rPr lang="en-US" sz="8579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SYSTEM ARCHITECTURE / BLOCK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403697"/>
            <a:ext cx="9874283" cy="420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Conceptual system flow for traffic congestion analysis and prediction: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Input: Vehicle traffic dataset (Vehicle_Count, Speed, Weather, Traffic_Density, Time_of_Day, etc.)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Processing: Data Preprocessing → Feature Extraction → Model Building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Output: Congestion level prediction and traffic insights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 flows from raw CSV input through cleaning and normalization, then feature selection identifies key congestion indicators, and the model module produces congestion level classifications (Low / Medium / High).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19241" y="925830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7747" y="1828927"/>
            <a:ext cx="5715229" cy="7350777"/>
          </a:xfrm>
          <a:custGeom>
            <a:avLst/>
            <a:gdLst/>
            <a:ahLst/>
            <a:cxnLst/>
            <a:rect l="l" t="t" r="r" b="b"/>
            <a:pathLst>
              <a:path w="5715229" h="7350777">
                <a:moveTo>
                  <a:pt x="0" y="0"/>
                </a:moveTo>
                <a:lnTo>
                  <a:pt x="5715229" y="0"/>
                </a:lnTo>
                <a:lnTo>
                  <a:pt x="5715229" y="7350777"/>
                </a:lnTo>
                <a:lnTo>
                  <a:pt x="0" y="735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765232"/>
            <a:ext cx="12536157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METHODOLOGY &amp;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562951"/>
            <a:ext cx="9110359" cy="1389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Step-by-step project workflow:</a:t>
            </a:r>
          </a:p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Data Collection: Import vehicle traffic dataset (CSV) and review structure</a:t>
            </a:r>
          </a:p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Data Preprocessing: Handle missing values, remove outliers, normalize features</a:t>
            </a:r>
          </a:p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Exploratory Data Analysis (EDA): Compute statistics, visualize distributions and correlations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282992"/>
            <a:ext cx="9110359" cy="166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Feature Selection &amp; Engineering: Identify key attributes correlated with congestion level</a:t>
            </a:r>
          </a:p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Model Selection &amp; Training: Choose and apply classification algorithm (placeholder)</a:t>
            </a:r>
          </a:p>
          <a:p>
            <a:pPr marL="0" lvl="0" indent="0" algn="just">
              <a:lnSpc>
                <a:spcPts val="2209"/>
              </a:lnSpc>
            </a:pPr>
            <a:r>
              <a:rPr lang="en-US" sz="2084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Result Visualization &amp; Interpretation: Generate charts, evaluate patterns, and summarize findings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10892" y="-1329281"/>
            <a:ext cx="2357981" cy="2357981"/>
            <a:chOff x="0" y="0"/>
            <a:chExt cx="673100" cy="673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9748" y="9258300"/>
            <a:ext cx="2357981" cy="2357981"/>
            <a:chOff x="0" y="0"/>
            <a:chExt cx="673100" cy="673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57073" y="5390410"/>
            <a:ext cx="5611345" cy="5053368"/>
          </a:xfrm>
          <a:custGeom>
            <a:avLst/>
            <a:gdLst/>
            <a:ahLst/>
            <a:cxnLst/>
            <a:rect l="l" t="t" r="r" b="b"/>
            <a:pathLst>
              <a:path w="5611345" h="5053368">
                <a:moveTo>
                  <a:pt x="0" y="0"/>
                </a:moveTo>
                <a:lnTo>
                  <a:pt x="5611345" y="0"/>
                </a:lnTo>
                <a:lnTo>
                  <a:pt x="5611345" y="5053368"/>
                </a:lnTo>
                <a:lnTo>
                  <a:pt x="0" y="5053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03691" y="5423248"/>
            <a:ext cx="4250739" cy="4236960"/>
          </a:xfrm>
          <a:custGeom>
            <a:avLst/>
            <a:gdLst/>
            <a:ahLst/>
            <a:cxnLst/>
            <a:rect l="l" t="t" r="r" b="b"/>
            <a:pathLst>
              <a:path w="4250739" h="4236960">
                <a:moveTo>
                  <a:pt x="0" y="0"/>
                </a:moveTo>
                <a:lnTo>
                  <a:pt x="4250739" y="0"/>
                </a:lnTo>
                <a:lnTo>
                  <a:pt x="4250739" y="4236960"/>
                </a:lnTo>
                <a:lnTo>
                  <a:pt x="0" y="4236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117" y="5883260"/>
            <a:ext cx="3400195" cy="3936404"/>
          </a:xfrm>
          <a:custGeom>
            <a:avLst/>
            <a:gdLst/>
            <a:ahLst/>
            <a:cxnLst/>
            <a:rect l="l" t="t" r="r" b="b"/>
            <a:pathLst>
              <a:path w="3400195" h="3936404">
                <a:moveTo>
                  <a:pt x="0" y="0"/>
                </a:moveTo>
                <a:lnTo>
                  <a:pt x="3400195" y="0"/>
                </a:lnTo>
                <a:lnTo>
                  <a:pt x="3400195" y="3936403"/>
                </a:lnTo>
                <a:lnTo>
                  <a:pt x="0" y="3936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00588" y="1725445"/>
            <a:ext cx="14286824" cy="130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3375" y="3416595"/>
            <a:ext cx="14401250" cy="178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77"/>
              </a:lnSpc>
            </a:pPr>
            <a:r>
              <a:rPr lang="en-US" sz="262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Programming Language: Python (proposed) — used for data analysis, visualization, and model building.</a:t>
            </a:r>
          </a:p>
          <a:p>
            <a:pPr marL="0" lvl="0" indent="0" algn="just">
              <a:lnSpc>
                <a:spcPts val="2777"/>
              </a:lnSpc>
            </a:pPr>
            <a:r>
              <a:rPr lang="en-US" sz="262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Libraries: Pandas &amp; NumPy (data handling), Matplotlib (visualization), Scikit-learn (machine learning).</a:t>
            </a:r>
          </a:p>
          <a:p>
            <a:pPr marL="0" lvl="0" indent="0" algn="just">
              <a:lnSpc>
                <a:spcPts val="2777"/>
              </a:lnSpc>
            </a:pPr>
            <a:r>
              <a:rPr lang="en-US" sz="262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Database / Data Source: CSV flat file — the vehicle traffic dataset (500 records).</a:t>
            </a:r>
          </a:p>
          <a:p>
            <a:pPr marL="0" lvl="0" indent="0" algn="just">
              <a:lnSpc>
                <a:spcPts val="2777"/>
              </a:lnSpc>
            </a:pPr>
            <a:r>
              <a:rPr lang="en-US" sz="262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Hardware: Standard PC or cloud-based environment (no specialized hardware required).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59300" y="123152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28943" y="669193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47336" y="4397999"/>
            <a:ext cx="19182672" cy="6419446"/>
            <a:chOff x="0" y="0"/>
            <a:chExt cx="5052226" cy="16907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05598" y="676263"/>
            <a:ext cx="2577625" cy="3984058"/>
          </a:xfrm>
          <a:custGeom>
            <a:avLst/>
            <a:gdLst/>
            <a:ahLst/>
            <a:cxnLst/>
            <a:rect l="l" t="t" r="r" b="b"/>
            <a:pathLst>
              <a:path w="2577625" h="3984058">
                <a:moveTo>
                  <a:pt x="0" y="0"/>
                </a:moveTo>
                <a:lnTo>
                  <a:pt x="2577625" y="0"/>
                </a:lnTo>
                <a:lnTo>
                  <a:pt x="2577625" y="3984058"/>
                </a:lnTo>
                <a:lnTo>
                  <a:pt x="0" y="3984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288958" y="1944493"/>
            <a:ext cx="4358505" cy="2043049"/>
          </a:xfrm>
          <a:custGeom>
            <a:avLst/>
            <a:gdLst/>
            <a:ahLst/>
            <a:cxnLst/>
            <a:rect l="l" t="t" r="r" b="b"/>
            <a:pathLst>
              <a:path w="4358505" h="2043049">
                <a:moveTo>
                  <a:pt x="0" y="0"/>
                </a:moveTo>
                <a:lnTo>
                  <a:pt x="4358504" y="0"/>
                </a:lnTo>
                <a:lnTo>
                  <a:pt x="4358504" y="2043049"/>
                </a:lnTo>
                <a:lnTo>
                  <a:pt x="0" y="2043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39318" y="1526505"/>
            <a:ext cx="10809365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SYSTEM MODULES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044869"/>
            <a:ext cx="4725732" cy="3152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 Collection Module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Import and clean the vehicle traffic dataset (CSV). Remove duplicates and handle missing or inconsistent entries to ensure data quality before processing.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 Preprocessing Module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Normalize numeric features (Vehicle_Count, Speed, Density). Encode categorical variables (Weather, Road_Type, Day_Type). Prepare data for analysis and model input.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1134" y="5044869"/>
            <a:ext cx="4725732" cy="343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Analysis Module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Generate statistical summaries and exploratory visualizations. Identify correlations between traffic features and congestion levels using charts and descriptive statistics.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Prediction Module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Placeholder for model training and inference. Intended to apply supervised classification (e.g., Decision Tree, Random Forest) to predict congestion levels from input features.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33568" y="5044869"/>
            <a:ext cx="4725732" cy="286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Visualization Module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Produce charts, histograms, and reports summarizing findings. Display congestion class distribution, traffic density trends, and volume-speed relationships for interpretation.</a:t>
            </a:r>
          </a:p>
          <a:p>
            <a:pPr marL="0" lvl="0" indent="0" algn="just">
              <a:lnSpc>
                <a:spcPts val="2256"/>
              </a:lnSpc>
            </a:pPr>
            <a:r>
              <a:rPr lang="en-US" sz="2128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Each module operates sequentially, forming a complete pipeline from raw data input to actionable traffic congestion insights and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2802" y="2339741"/>
            <a:ext cx="6433675" cy="6528637"/>
          </a:xfrm>
          <a:custGeom>
            <a:avLst/>
            <a:gdLst/>
            <a:ahLst/>
            <a:cxnLst/>
            <a:rect l="l" t="t" r="r" b="b"/>
            <a:pathLst>
              <a:path w="6433675" h="6528637">
                <a:moveTo>
                  <a:pt x="0" y="0"/>
                </a:moveTo>
                <a:lnTo>
                  <a:pt x="6433675" y="0"/>
                </a:lnTo>
                <a:lnTo>
                  <a:pt x="6433675" y="6528637"/>
                </a:lnTo>
                <a:lnTo>
                  <a:pt x="0" y="6528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6385" y="1719175"/>
            <a:ext cx="9392915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590"/>
              </a:lnSpc>
            </a:pPr>
            <a:r>
              <a:rPr lang="en-US" sz="8625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IMPLEMENTATION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85017" y="4466152"/>
            <a:ext cx="9874283" cy="4238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9"/>
              </a:lnSpc>
            </a:pPr>
            <a:r>
              <a:rPr lang="en-US" sz="265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Data analysis is planned using Python along with libraries such as Pandas, NumPy, and Matplotlib.</a:t>
            </a:r>
          </a:p>
          <a:p>
            <a:pPr marL="0" lvl="0" indent="0" algn="just">
              <a:lnSpc>
                <a:spcPts val="2809"/>
              </a:lnSpc>
            </a:pPr>
            <a:r>
              <a:rPr lang="en-US" sz="265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Exploratory Data Analysis (EDA) steps have been outlined but are currently in progress.</a:t>
            </a:r>
          </a:p>
          <a:p>
            <a:pPr marL="0" lvl="0" indent="0" algn="just">
              <a:lnSpc>
                <a:spcPts val="2809"/>
              </a:lnSpc>
            </a:pPr>
            <a:r>
              <a:rPr lang="en-US" sz="265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Model training and evaluation are proposed steps; no trained model has been developed yet.</a:t>
            </a:r>
          </a:p>
          <a:p>
            <a:pPr marL="0" lvl="0" indent="0" algn="just">
              <a:lnSpc>
                <a:spcPts val="2809"/>
              </a:lnSpc>
            </a:pPr>
            <a:r>
              <a:rPr lang="en-US" sz="265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Code snippets and screenshots are to be added in future development phases.</a:t>
            </a:r>
          </a:p>
          <a:p>
            <a:pPr marL="0" lvl="0" indent="0" algn="just">
              <a:lnSpc>
                <a:spcPts val="2809"/>
              </a:lnSpc>
            </a:pPr>
            <a:r>
              <a:rPr lang="en-US" sz="265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Preprocessing routines (handling missing values, normalization) are identified but pending implementation.</a:t>
            </a:r>
          </a:p>
          <a:p>
            <a:pPr marL="0" lvl="0" indent="0" algn="just">
              <a:lnSpc>
                <a:spcPts val="2809"/>
              </a:lnSpc>
            </a:pPr>
            <a:r>
              <a:rPr lang="en-US" sz="2650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Placeholder: Code output and result screenshots will be included here upon completion of development.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61115" y="-1329281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16985" y="92583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97867" y="594833"/>
            <a:ext cx="5195866" cy="4844381"/>
          </a:xfrm>
          <a:custGeom>
            <a:avLst/>
            <a:gdLst/>
            <a:ahLst/>
            <a:cxnLst/>
            <a:rect l="l" t="t" r="r" b="b"/>
            <a:pathLst>
              <a:path w="5195866" h="4844381">
                <a:moveTo>
                  <a:pt x="0" y="0"/>
                </a:moveTo>
                <a:lnTo>
                  <a:pt x="5195866" y="0"/>
                </a:lnTo>
                <a:lnTo>
                  <a:pt x="5195866" y="4844381"/>
                </a:lnTo>
                <a:lnTo>
                  <a:pt x="0" y="484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28" y="3684586"/>
            <a:ext cx="9371104" cy="56305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770531" y="4465511"/>
            <a:ext cx="5521117" cy="570632"/>
            <a:chOff x="0" y="0"/>
            <a:chExt cx="1454121" cy="1502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0531" y="5369238"/>
            <a:ext cx="5521117" cy="570632"/>
            <a:chOff x="0" y="0"/>
            <a:chExt cx="1454121" cy="150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0531" y="6272966"/>
            <a:ext cx="5521117" cy="570632"/>
            <a:chOff x="0" y="0"/>
            <a:chExt cx="1454121" cy="1502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0531" y="7176693"/>
            <a:ext cx="5521117" cy="570632"/>
            <a:chOff x="0" y="0"/>
            <a:chExt cx="1454121" cy="150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0531" y="8080420"/>
            <a:ext cx="5521117" cy="570632"/>
            <a:chOff x="0" y="0"/>
            <a:chExt cx="1454121" cy="1502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-1303597" y="6461308"/>
            <a:ext cx="5771140" cy="3464810"/>
          </a:xfrm>
          <a:custGeom>
            <a:avLst/>
            <a:gdLst/>
            <a:ahLst/>
            <a:cxnLst/>
            <a:rect l="l" t="t" r="r" b="b"/>
            <a:pathLst>
              <a:path w="5771140" h="3464810">
                <a:moveTo>
                  <a:pt x="0" y="0"/>
                </a:moveTo>
                <a:lnTo>
                  <a:pt x="5771140" y="0"/>
                </a:lnTo>
                <a:lnTo>
                  <a:pt x="5771140" y="3464810"/>
                </a:lnTo>
                <a:lnTo>
                  <a:pt x="0" y="3464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716280"/>
            <a:ext cx="12536157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DATASET / INPUT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9675" y="4585820"/>
            <a:ext cx="5742829" cy="19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"/>
              </a:lnSpc>
            </a:pPr>
            <a:r>
              <a:rPr lang="en-US" sz="1637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Dataset Size: 500 records, 9 features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59675" y="5493343"/>
            <a:ext cx="5742829" cy="19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"/>
              </a:lnSpc>
            </a:pPr>
            <a:r>
              <a:rPr lang="en-US" sz="1637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Avg Vehicle_Count: 278.47 | Avg Speed: 44.61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9675" y="6400866"/>
            <a:ext cx="5742829" cy="19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"/>
              </a:lnSpc>
            </a:pPr>
            <a:r>
              <a:rPr lang="en-US" sz="1637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High Congestion Cases: 36.4% of dataset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59675" y="7308389"/>
            <a:ext cx="5742829" cy="380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"/>
              </a:lnSpc>
            </a:pPr>
            <a:r>
              <a:rPr lang="en-US" sz="1637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Features: Vehicle_Count, Avg_Speed, Traffic_Density, Weather, Time_of_Day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59675" y="8215912"/>
            <a:ext cx="5742829" cy="19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"/>
              </a:lnSpc>
            </a:pPr>
            <a:r>
              <a:rPr lang="en-US" sz="1637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Also: Road_Type, Day_Type, Accident, Congestion_Level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7109009" y="6900319"/>
            <a:ext cx="2357981" cy="2357981"/>
            <a:chOff x="0" y="0"/>
            <a:chExt cx="673100" cy="673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159900" y="4365597"/>
            <a:ext cx="6256987" cy="3860969"/>
            <a:chOff x="0" y="0"/>
            <a:chExt cx="969371" cy="598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9371" cy="598165"/>
            </a:xfrm>
            <a:custGeom>
              <a:avLst/>
              <a:gdLst/>
              <a:ahLst/>
              <a:cxnLst/>
              <a:rect l="l" t="t" r="r" b="b"/>
              <a:pathLst>
                <a:path w="969371" h="598165">
                  <a:moveTo>
                    <a:pt x="0" y="0"/>
                  </a:moveTo>
                  <a:lnTo>
                    <a:pt x="969371" y="0"/>
                  </a:lnTo>
                  <a:lnTo>
                    <a:pt x="969371" y="598165"/>
                  </a:lnTo>
                  <a:lnTo>
                    <a:pt x="0" y="598165"/>
                  </a:lnTo>
                  <a:close/>
                </a:path>
              </a:pathLst>
            </a:custGeom>
            <a:blipFill>
              <a:blip r:embed="rId3"/>
              <a:stretch>
                <a:fillRect t="-339" b="-33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0526370" y="-889122"/>
            <a:ext cx="7512643" cy="4911390"/>
          </a:xfrm>
          <a:custGeom>
            <a:avLst/>
            <a:gdLst/>
            <a:ahLst/>
            <a:cxnLst/>
            <a:rect l="l" t="t" r="r" b="b"/>
            <a:pathLst>
              <a:path w="7512643" h="4911390">
                <a:moveTo>
                  <a:pt x="0" y="0"/>
                </a:moveTo>
                <a:lnTo>
                  <a:pt x="7512642" y="0"/>
                </a:lnTo>
                <a:lnTo>
                  <a:pt x="7512642" y="4911390"/>
                </a:lnTo>
                <a:lnTo>
                  <a:pt x="0" y="4911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765232"/>
            <a:ext cx="12536157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ALGORITHM /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394172"/>
            <a:ext cx="9874283" cy="4001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Supervised learning for congestion prediction (classification task).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Potential algorithms: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– Decision Trees: Simple, interpretable rules for congestion levels.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– Random Forest: Ensemble method for improved accuracy.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– Logistic Regression: Baseline binary/multi-class classifier.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Feature selection based on attributes correlated with congestion (Vehicle_Count, Speed, Density, Weather, Time_of_Day).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Dataset split into training and testing sets for model evaluation.</a:t>
            </a:r>
          </a:p>
          <a:p>
            <a:pPr marL="0" lvl="0" indent="0" algn="just">
              <a:lnSpc>
                <a:spcPts val="2904"/>
              </a:lnSpc>
            </a:pPr>
            <a:r>
              <a:rPr lang="en-US" sz="2739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Actual model development and performance metrics are pending future work.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19241" y="925830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03414" y="519361"/>
            <a:ext cx="4976469" cy="5135193"/>
          </a:xfrm>
          <a:custGeom>
            <a:avLst/>
            <a:gdLst/>
            <a:ahLst/>
            <a:cxnLst/>
            <a:rect l="l" t="t" r="r" b="b"/>
            <a:pathLst>
              <a:path w="4976469" h="5135193">
                <a:moveTo>
                  <a:pt x="0" y="0"/>
                </a:moveTo>
                <a:lnTo>
                  <a:pt x="4976469" y="0"/>
                </a:lnTo>
                <a:lnTo>
                  <a:pt x="4976469" y="5135193"/>
                </a:lnTo>
                <a:lnTo>
                  <a:pt x="0" y="5135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84" y="3675215"/>
            <a:ext cx="9494591" cy="5649242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9770531" y="4465511"/>
            <a:ext cx="5521117" cy="570632"/>
            <a:chOff x="0" y="0"/>
            <a:chExt cx="1454121" cy="1502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0531" y="5369238"/>
            <a:ext cx="5521117" cy="570632"/>
            <a:chOff x="0" y="0"/>
            <a:chExt cx="1454121" cy="150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0531" y="6272966"/>
            <a:ext cx="5521117" cy="570632"/>
            <a:chOff x="0" y="0"/>
            <a:chExt cx="1454121" cy="1502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0531" y="7176693"/>
            <a:ext cx="5521117" cy="570632"/>
            <a:chOff x="0" y="0"/>
            <a:chExt cx="1454121" cy="150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0531" y="8080420"/>
            <a:ext cx="5521117" cy="570632"/>
            <a:chOff x="0" y="0"/>
            <a:chExt cx="1454121" cy="1502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4122" cy="150290"/>
            </a:xfrm>
            <a:custGeom>
              <a:avLst/>
              <a:gdLst/>
              <a:ahLst/>
              <a:cxnLst/>
              <a:rect l="l" t="t" r="r" b="b"/>
              <a:pathLst>
                <a:path w="1454122" h="150290">
                  <a:moveTo>
                    <a:pt x="0" y="0"/>
                  </a:moveTo>
                  <a:lnTo>
                    <a:pt x="1454122" y="0"/>
                  </a:lnTo>
                  <a:lnTo>
                    <a:pt x="1454122" y="150290"/>
                  </a:lnTo>
                  <a:lnTo>
                    <a:pt x="0" y="150290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76200"/>
              <a:ext cx="1454121" cy="74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242880" y="6778505"/>
            <a:ext cx="3063059" cy="3376117"/>
          </a:xfrm>
          <a:custGeom>
            <a:avLst/>
            <a:gdLst/>
            <a:ahLst/>
            <a:cxnLst/>
            <a:rect l="l" t="t" r="r" b="b"/>
            <a:pathLst>
              <a:path w="3063059" h="3376117">
                <a:moveTo>
                  <a:pt x="3063059" y="0"/>
                </a:moveTo>
                <a:lnTo>
                  <a:pt x="0" y="0"/>
                </a:lnTo>
                <a:lnTo>
                  <a:pt x="0" y="3376117"/>
                </a:lnTo>
                <a:lnTo>
                  <a:pt x="3063059" y="3376117"/>
                </a:lnTo>
                <a:lnTo>
                  <a:pt x="30630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716280"/>
            <a:ext cx="12536157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9999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9675" y="4604870"/>
            <a:ext cx="5742829" cy="2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8"/>
              </a:lnSpc>
            </a:pPr>
            <a:r>
              <a:rPr lang="en-US" sz="17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Vehicle_Count vs Speed correlation: -0.90 (strong inverse)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59675" y="5512393"/>
            <a:ext cx="5742829" cy="2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8"/>
              </a:lnSpc>
            </a:pPr>
            <a:r>
              <a:rPr lang="en-US" sz="17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Higher traffic density strongly linked to High congestion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9675" y="6419916"/>
            <a:ext cx="5742829" cy="2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8"/>
              </a:lnSpc>
            </a:pPr>
            <a:r>
              <a:rPr lang="en-US" sz="17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Weather, Time of Day &amp; Road Type affect congestion levels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59675" y="7327439"/>
            <a:ext cx="5742829" cy="2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8"/>
              </a:lnSpc>
            </a:pPr>
            <a:r>
              <a:rPr lang="en-US" sz="17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Accidents and Day Type show notable congestion variation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59675" y="8234962"/>
            <a:ext cx="5742829" cy="2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8"/>
              </a:lnSpc>
            </a:pPr>
            <a:r>
              <a:rPr lang="en-US" sz="177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Model evaluation metrics pending future work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7109009" y="6900319"/>
            <a:ext cx="2357981" cy="2357981"/>
            <a:chOff x="0" y="0"/>
            <a:chExt cx="673100" cy="673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2802" y="2339741"/>
            <a:ext cx="6433675" cy="6528637"/>
          </a:xfrm>
          <a:custGeom>
            <a:avLst/>
            <a:gdLst/>
            <a:ahLst/>
            <a:cxnLst/>
            <a:rect l="l" t="t" r="r" b="b"/>
            <a:pathLst>
              <a:path w="6433675" h="6528637">
                <a:moveTo>
                  <a:pt x="0" y="0"/>
                </a:moveTo>
                <a:lnTo>
                  <a:pt x="6433675" y="0"/>
                </a:lnTo>
                <a:lnTo>
                  <a:pt x="6433675" y="6528637"/>
                </a:lnTo>
                <a:lnTo>
                  <a:pt x="0" y="6528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6385" y="1757275"/>
            <a:ext cx="9392915" cy="241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SCREENSHOTS / DEMO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85017" y="4466152"/>
            <a:ext cx="9874283" cy="400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Current Status: No screenshots or live demo are available at this stage of the project.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[ Placeholder: System Interface Screenshot ]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Future addition — user interface for data input and congestion prediction output.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[ Placeholder: Prediction Output Screen ]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Future addition — model prediction results displayed with congestion level labels.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[ Placeholder: Visualization Dashboard ]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Future addition — charts and reports generated from the analysis module.</a:t>
            </a:r>
          </a:p>
          <a:p>
            <a:pPr marL="0" lvl="0" indent="0" algn="just">
              <a:lnSpc>
                <a:spcPts val="2635"/>
              </a:lnSpc>
            </a:pPr>
            <a:r>
              <a:rPr lang="en-US" sz="2486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Note: All placeholders above will be replaced with actual screenshots and demo outputs in future development phases.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61115" y="-1329281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16985" y="92583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47336" y="4397999"/>
            <a:ext cx="19182672" cy="6419446"/>
            <a:chOff x="0" y="0"/>
            <a:chExt cx="5052226" cy="16907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05187" y="1685403"/>
            <a:ext cx="2557644" cy="2819046"/>
          </a:xfrm>
          <a:custGeom>
            <a:avLst/>
            <a:gdLst/>
            <a:ahLst/>
            <a:cxnLst/>
            <a:rect l="l" t="t" r="r" b="b"/>
            <a:pathLst>
              <a:path w="2557644" h="2819046">
                <a:moveTo>
                  <a:pt x="0" y="0"/>
                </a:moveTo>
                <a:lnTo>
                  <a:pt x="2557644" y="0"/>
                </a:lnTo>
                <a:lnTo>
                  <a:pt x="2557644" y="2819047"/>
                </a:lnTo>
                <a:lnTo>
                  <a:pt x="0" y="2819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81688" y="2081574"/>
            <a:ext cx="2996472" cy="2026705"/>
          </a:xfrm>
          <a:custGeom>
            <a:avLst/>
            <a:gdLst/>
            <a:ahLst/>
            <a:cxnLst/>
            <a:rect l="l" t="t" r="r" b="b"/>
            <a:pathLst>
              <a:path w="2996472" h="2026705">
                <a:moveTo>
                  <a:pt x="0" y="0"/>
                </a:moveTo>
                <a:lnTo>
                  <a:pt x="2996472" y="0"/>
                </a:lnTo>
                <a:lnTo>
                  <a:pt x="2996472" y="2026705"/>
                </a:lnTo>
                <a:lnTo>
                  <a:pt x="0" y="2026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39318" y="1526505"/>
            <a:ext cx="10809365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sz="9999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ADVANTAGES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054394"/>
            <a:ext cx="4725732" cy="344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Data-Driven Understanding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Analyzing real traffic data provides deeper insights into congestion patterns, helping identify key contributing factors such as vehicle count, speed, and weather conditions more accurately than manual methods.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1134" y="5054394"/>
            <a:ext cx="4725732" cy="30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Early Congestion Prediction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The proposed system enables proactive identification of congestion before it worsens, allowing traffic authorities to take timely action and reduce delays, pollution, and accident risks for commuters.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33568" y="5054394"/>
            <a:ext cx="4725732" cy="30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Scalable &amp; Extensible</a:t>
            </a:r>
          </a:p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The system can be extended for real-time monitoring using live sensor data, and supports informed decision-making for city planners by providing actionable traffic insights and alert mechanisms.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91386" y="6053130"/>
            <a:ext cx="4874416" cy="3686277"/>
          </a:xfrm>
          <a:custGeom>
            <a:avLst/>
            <a:gdLst/>
            <a:ahLst/>
            <a:cxnLst/>
            <a:rect l="l" t="t" r="r" b="b"/>
            <a:pathLst>
              <a:path w="4874416" h="3686277">
                <a:moveTo>
                  <a:pt x="0" y="0"/>
                </a:moveTo>
                <a:lnTo>
                  <a:pt x="4874416" y="0"/>
                </a:lnTo>
                <a:lnTo>
                  <a:pt x="4874416" y="3686277"/>
                </a:lnTo>
                <a:lnTo>
                  <a:pt x="0" y="3686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06347" y="6016639"/>
            <a:ext cx="3581194" cy="3754856"/>
          </a:xfrm>
          <a:custGeom>
            <a:avLst/>
            <a:gdLst/>
            <a:ahLst/>
            <a:cxnLst/>
            <a:rect l="l" t="t" r="r" b="b"/>
            <a:pathLst>
              <a:path w="3581194" h="3754856">
                <a:moveTo>
                  <a:pt x="0" y="0"/>
                </a:moveTo>
                <a:lnTo>
                  <a:pt x="3581194" y="0"/>
                </a:lnTo>
                <a:lnTo>
                  <a:pt x="3581194" y="3754856"/>
                </a:lnTo>
                <a:lnTo>
                  <a:pt x="0" y="375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7958" y="6290936"/>
            <a:ext cx="3573880" cy="3189688"/>
          </a:xfrm>
          <a:custGeom>
            <a:avLst/>
            <a:gdLst/>
            <a:ahLst/>
            <a:cxnLst/>
            <a:rect l="l" t="t" r="r" b="b"/>
            <a:pathLst>
              <a:path w="3573880" h="3189688">
                <a:moveTo>
                  <a:pt x="0" y="0"/>
                </a:moveTo>
                <a:lnTo>
                  <a:pt x="3573880" y="0"/>
                </a:lnTo>
                <a:lnTo>
                  <a:pt x="3573880" y="3189688"/>
                </a:lnTo>
                <a:lnTo>
                  <a:pt x="0" y="3189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00588" y="1725445"/>
            <a:ext cx="14286824" cy="130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3"/>
              </a:lnSpc>
            </a:pPr>
            <a:r>
              <a:rPr lang="en-US" sz="9992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APPLICATIONS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3375" y="3416595"/>
            <a:ext cx="14401250" cy="189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5"/>
              </a:lnSpc>
            </a:pPr>
            <a:r>
              <a:rPr lang="en-US" sz="2382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The traffic congestion analysis system has several practical real-world deployment areas:</a:t>
            </a:r>
          </a:p>
          <a:p>
            <a:pPr marL="0" lvl="0" indent="0" algn="just">
              <a:lnSpc>
                <a:spcPts val="2525"/>
              </a:lnSpc>
            </a:pPr>
            <a:r>
              <a:rPr lang="en-US" sz="2382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Urban Traffic Control Centers: Assist operators in monitoring and managing city-wide traffic flow in real time.</a:t>
            </a:r>
          </a:p>
          <a:p>
            <a:pPr marL="0" lvl="0" indent="0" algn="just">
              <a:lnSpc>
                <a:spcPts val="2525"/>
              </a:lnSpc>
            </a:pPr>
            <a:r>
              <a:rPr lang="en-US" sz="2382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Navigation &amp; Route Optimization Apps: Provide drivers with congestion-aware routing to reduce travel time.</a:t>
            </a:r>
          </a:p>
          <a:p>
            <a:pPr marL="0" lvl="0" indent="0" algn="just">
              <a:lnSpc>
                <a:spcPts val="2525"/>
              </a:lnSpc>
            </a:pPr>
            <a:r>
              <a:rPr lang="en-US" sz="2382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City Infrastructure Planning: Support planners with data insights for road expansion and signal optimization.</a:t>
            </a:r>
          </a:p>
          <a:p>
            <a:pPr marL="0" lvl="0" indent="0" algn="just">
              <a:lnSpc>
                <a:spcPts val="2525"/>
              </a:lnSpc>
            </a:pPr>
            <a:r>
              <a:rPr lang="en-US" sz="2382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Emergency Response &amp; Accident Management: Enable faster emergency routing by identifying congestion hotspots.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59300" y="123152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28943" y="669193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22303" y="4547867"/>
            <a:ext cx="9097974" cy="5411827"/>
          </a:xfrm>
          <a:custGeom>
            <a:avLst/>
            <a:gdLst/>
            <a:ahLst/>
            <a:cxnLst/>
            <a:rect l="l" t="t" r="r" b="b"/>
            <a:pathLst>
              <a:path w="9097974" h="5411827">
                <a:moveTo>
                  <a:pt x="0" y="0"/>
                </a:moveTo>
                <a:lnTo>
                  <a:pt x="9097974" y="0"/>
                </a:lnTo>
                <a:lnTo>
                  <a:pt x="9097974" y="5411827"/>
                </a:lnTo>
                <a:lnTo>
                  <a:pt x="0" y="5411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6385" y="1757275"/>
            <a:ext cx="9392915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799"/>
              </a:lnSpc>
            </a:pPr>
            <a:r>
              <a:rPr lang="en-US" sz="9999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LIMITATIONS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731226" y="-885912"/>
            <a:ext cx="9673368" cy="12371711"/>
            <a:chOff x="0" y="0"/>
            <a:chExt cx="2547718" cy="3258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7719" cy="3258393"/>
            </a:xfrm>
            <a:custGeom>
              <a:avLst/>
              <a:gdLst/>
              <a:ahLst/>
              <a:cxnLst/>
              <a:rect l="l" t="t" r="r" b="b"/>
              <a:pathLst>
                <a:path w="2547719" h="3258393">
                  <a:moveTo>
                    <a:pt x="0" y="0"/>
                  </a:moveTo>
                  <a:lnTo>
                    <a:pt x="2547719" y="0"/>
                  </a:lnTo>
                  <a:lnTo>
                    <a:pt x="2547719" y="3258393"/>
                  </a:lnTo>
                  <a:lnTo>
                    <a:pt x="0" y="3258393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2547718" cy="3182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14167"/>
            <a:ext cx="7367650" cy="153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Dataset is limited to only 500 records, which may not capture diverse traffic patterns. Larger and more varied datasets are required for building robust and generalizable models.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03708"/>
            <a:ext cx="7367650" cy="153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No real-time or live traffic data integration is available. The system currently relies solely on a static CSV dataset, limiting its applicability to dynamic, real-world traffic conditions.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393248"/>
            <a:ext cx="7367650" cy="191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4"/>
              </a:lnSpc>
            </a:pPr>
            <a:r>
              <a:rPr lang="en-US" sz="2843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Model development and validation are pending future work. Additionally, external factors such as road works, events, and construction are not captured in the dataset, reducing prediction accuracy.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59300" y="6900319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47336" y="4397999"/>
            <a:ext cx="19182672" cy="6419446"/>
            <a:chOff x="0" y="0"/>
            <a:chExt cx="5052226" cy="16907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82659" y="939423"/>
            <a:ext cx="3109622" cy="3652241"/>
          </a:xfrm>
          <a:custGeom>
            <a:avLst/>
            <a:gdLst/>
            <a:ahLst/>
            <a:cxnLst/>
            <a:rect l="l" t="t" r="r" b="b"/>
            <a:pathLst>
              <a:path w="3109622" h="3652241">
                <a:moveTo>
                  <a:pt x="0" y="0"/>
                </a:moveTo>
                <a:lnTo>
                  <a:pt x="3109622" y="0"/>
                </a:lnTo>
                <a:lnTo>
                  <a:pt x="3109622" y="3652241"/>
                </a:lnTo>
                <a:lnTo>
                  <a:pt x="0" y="365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458544" y="1667817"/>
            <a:ext cx="4062725" cy="2674130"/>
          </a:xfrm>
          <a:custGeom>
            <a:avLst/>
            <a:gdLst/>
            <a:ahLst/>
            <a:cxnLst/>
            <a:rect l="l" t="t" r="r" b="b"/>
            <a:pathLst>
              <a:path w="4062725" h="2674130">
                <a:moveTo>
                  <a:pt x="0" y="0"/>
                </a:moveTo>
                <a:lnTo>
                  <a:pt x="4062725" y="0"/>
                </a:lnTo>
                <a:lnTo>
                  <a:pt x="4062725" y="2674130"/>
                </a:lnTo>
                <a:lnTo>
                  <a:pt x="0" y="2674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39318" y="1526505"/>
            <a:ext cx="10809365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sz="9999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054394"/>
            <a:ext cx="4725732" cy="3340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Data &amp; Models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Collect larger, more diverse traffic datasets for robust analysis.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Develop and train supervised ML models (Decision Tree, Random Forest).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Validate model accuracy with real-world traffic benchmarks.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Incorporate historical trend data for better predictions.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1134" y="5054394"/>
            <a:ext cx="4725732" cy="300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Real-Time Integration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Integrate real-time traffic sensors and IoT devices.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Enable live data ingestion and dynamic congestion alerts.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Connect with GPS and navigation APIs for live routing.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Support automated incident detection and response.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33568" y="5054394"/>
            <a:ext cx="4725732" cy="300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Dashboards &amp; Analysis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Build user-friendly monitoring dashboards for planners.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Visualize congestion trends with interactive charts.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Explore multi-modal traffic including pedestrian flow.</a:t>
            </a:r>
          </a:p>
          <a:p>
            <a:pPr marL="0" lvl="0" indent="0" algn="just">
              <a:lnSpc>
                <a:spcPts val="2682"/>
              </a:lnSpc>
            </a:pPr>
            <a:r>
              <a:rPr lang="en-US" sz="2531">
                <a:solidFill>
                  <a:srgbClr val="34322B"/>
                </a:solidFill>
                <a:latin typeface="Circe"/>
                <a:ea typeface="Circe"/>
                <a:cs typeface="Circe"/>
                <a:sym typeface="Circe"/>
              </a:rPr>
              <a:t>• Support city-wide infrastructure and policy decisions.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01773" y="1972019"/>
            <a:ext cx="5514474" cy="9557537"/>
          </a:xfrm>
          <a:custGeom>
            <a:avLst/>
            <a:gdLst/>
            <a:ahLst/>
            <a:cxnLst/>
            <a:rect l="l" t="t" r="r" b="b"/>
            <a:pathLst>
              <a:path w="5514474" h="9557537">
                <a:moveTo>
                  <a:pt x="0" y="0"/>
                </a:moveTo>
                <a:lnTo>
                  <a:pt x="5514474" y="0"/>
                </a:lnTo>
                <a:lnTo>
                  <a:pt x="5514474" y="9557537"/>
                </a:lnTo>
                <a:lnTo>
                  <a:pt x="0" y="955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109009" y="5143500"/>
            <a:ext cx="2357981" cy="2357981"/>
            <a:chOff x="0" y="0"/>
            <a:chExt cx="673100" cy="673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29281" y="5359562"/>
            <a:ext cx="2357981" cy="2357981"/>
            <a:chOff x="0" y="0"/>
            <a:chExt cx="673100" cy="673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669882" y="5166171"/>
            <a:ext cx="4668361" cy="4203703"/>
          </a:xfrm>
          <a:custGeom>
            <a:avLst/>
            <a:gdLst/>
            <a:ahLst/>
            <a:cxnLst/>
            <a:rect l="l" t="t" r="r" b="b"/>
            <a:pathLst>
              <a:path w="4668361" h="4203703">
                <a:moveTo>
                  <a:pt x="0" y="0"/>
                </a:moveTo>
                <a:lnTo>
                  <a:pt x="4668361" y="0"/>
                </a:lnTo>
                <a:lnTo>
                  <a:pt x="4668361" y="4203703"/>
                </a:lnTo>
                <a:lnTo>
                  <a:pt x="0" y="4203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08864" y="5978237"/>
            <a:ext cx="4433118" cy="3175220"/>
          </a:xfrm>
          <a:custGeom>
            <a:avLst/>
            <a:gdLst/>
            <a:ahLst/>
            <a:cxnLst/>
            <a:rect l="l" t="t" r="r" b="b"/>
            <a:pathLst>
              <a:path w="4433118" h="3175220">
                <a:moveTo>
                  <a:pt x="0" y="0"/>
                </a:moveTo>
                <a:lnTo>
                  <a:pt x="4433118" y="0"/>
                </a:lnTo>
                <a:lnTo>
                  <a:pt x="4433118" y="3175220"/>
                </a:lnTo>
                <a:lnTo>
                  <a:pt x="0" y="3175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06768" y="1835466"/>
            <a:ext cx="14274463" cy="2038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619"/>
              </a:lnSpc>
            </a:pPr>
            <a:r>
              <a:rPr lang="en-US" sz="15476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1766</Words>
  <Application>Microsoft Office PowerPoint</Application>
  <PresentationFormat>Custom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Circe</vt:lpstr>
      <vt:lpstr>Calibri</vt:lpstr>
      <vt:lpstr>Calmius Sans High Bold</vt:lpstr>
      <vt:lpstr>Circe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Congestion Analysis</dc:title>
  <cp:lastModifiedBy>Ganesh Agarwal</cp:lastModifiedBy>
  <cp:revision>2</cp:revision>
  <dcterms:created xsi:type="dcterms:W3CDTF">2006-08-16T00:00:00Z</dcterms:created>
  <dcterms:modified xsi:type="dcterms:W3CDTF">2026-10-20T08:37:54Z</dcterms:modified>
  <dc:identifier>DAHX6S4yeKQ</dc:identifier>
</cp:coreProperties>
</file>